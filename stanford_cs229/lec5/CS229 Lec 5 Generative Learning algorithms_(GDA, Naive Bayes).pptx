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F1C36C-31CE-498F-A0F0-E463DA7F5301}">
  <a:tblStyle styleId="{45F1C36C-31CE-498F-A0F0-E463DA7F53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aeb75009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aeb75009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aeb75009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aeb75009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aeb75009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aeb75009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aeb75009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aeb75009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aeb75009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aeb75009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aeb75009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6aeb75009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aeb75009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aeb75009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aeb75009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6aeb75009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011850"/>
            <a:ext cx="8520600" cy="99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CS229 Lec 5 Generative Learning </a:t>
            </a: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algorithms</a:t>
            </a:r>
            <a:br>
              <a:rPr lang="en" sz="1800">
                <a:latin typeface="Georgia"/>
                <a:ea typeface="Georgia"/>
                <a:cs typeface="Georgia"/>
                <a:sym typeface="Georgia"/>
              </a:rPr>
            </a:b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(GDA, Naive Bayes)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245725" y="247350"/>
            <a:ext cx="8520600" cy="46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For a </a:t>
            </a: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(binary) </a:t>
            </a: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Classification problem..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Discriminative Learning Algorithms: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1. Learn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 decision boundary θᵀx = 0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2. To classify a new data, check on which side of the decision boundary it falls (p(y=1|x) by calculate hθ(x))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                                                                          Logistic Regression                                       Perceptron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p(y|x; θ) as hθ(x) = g(θᵀx)            g(z) = sigmoid = 1 / (1 + exp(-z))                      g(z) =  step function</a:t>
            </a:r>
            <a:br>
              <a:rPr lang="en" sz="1400">
                <a:latin typeface="Georgia"/>
                <a:ea typeface="Georgia"/>
                <a:cs typeface="Georgia"/>
                <a:sym typeface="Georgia"/>
              </a:rPr>
            </a:b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                                                                    </a:t>
            </a:r>
            <a:r>
              <a:rPr lang="en" sz="1200">
                <a:latin typeface="Georgia"/>
                <a:ea typeface="Georgia"/>
                <a:cs typeface="Georgia"/>
                <a:sym typeface="Georgia"/>
              </a:rPr>
              <a:t>1 when &gt;= 0.5, 0 otherwise  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                  </a:t>
            </a:r>
            <a:r>
              <a:rPr lang="en" sz="1200">
                <a:latin typeface="Georgia"/>
                <a:ea typeface="Georgia"/>
                <a:cs typeface="Georgia"/>
                <a:sym typeface="Georgia"/>
              </a:rPr>
              <a:t>           </a:t>
            </a:r>
            <a:r>
              <a:rPr lang="en" sz="1200">
                <a:solidFill>
                  <a:srgbClr val="001D35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1 if z &gt; 0, and 0 otherwise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             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245725" y="247350"/>
            <a:ext cx="8520600" cy="46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For a (binary) Classification problem..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Generative Learning Algorithms: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1. Learn p(x|y) (and p(y) - class 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prior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)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2. By Bayesian rule: p(y|x) = p(x|y)p(y) / p(x)  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(denominator p(x) can be gone for classification: both p(y=1|x) &amp; p(y=0|x) has it)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                                          GDA                                                                               Naive Bayes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p(y|x; θ) as hθ(x) = g(θᵀx)            g(z) = sigmoid = </a:t>
            </a:r>
            <a:r>
              <a:rPr lang="en" sz="1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1 / (1 + exp(-z))</a:t>
            </a:r>
            <a:r>
              <a:rPr lang="en" sz="1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                   g(z) =  step function</a:t>
            </a:r>
            <a:br>
              <a:rPr lang="en" sz="1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1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                                                                   </a:t>
            </a:r>
            <a:r>
              <a:rPr lang="en"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1 when &gt;= 0.5, 0 otherwise  </a:t>
            </a:r>
            <a:r>
              <a:rPr lang="en" sz="1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                 </a:t>
            </a:r>
            <a:r>
              <a:rPr lang="en" sz="1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       </a:t>
            </a:r>
            <a:r>
              <a:rPr lang="en" sz="1200">
                <a:solidFill>
                  <a:schemeClr val="lt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1 if z &gt; 0, and 0 otherwise</a:t>
            </a:r>
            <a:r>
              <a:rPr lang="en" sz="1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            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ctrTitle"/>
          </p:nvPr>
        </p:nvSpPr>
        <p:spPr>
          <a:xfrm>
            <a:off x="245725" y="247350"/>
            <a:ext cx="8520600" cy="46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GDA (Gaussian Discriminant Analysis)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When we have a classification problem in which the input features </a:t>
            </a:r>
            <a:r>
              <a:rPr lang="en" sz="1400">
                <a:highlight>
                  <a:srgbClr val="FFE599"/>
                </a:highlight>
                <a:latin typeface="Georgia"/>
                <a:ea typeface="Georgia"/>
                <a:cs typeface="Georgia"/>
                <a:sym typeface="Georgia"/>
              </a:rPr>
              <a:t>x are continuous-valued random variables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, we can then use the Gaussian Discriminant Analysis (GDA) model, which models p(x|y) using a multivariate normal distribution. The model is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: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  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          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0" name="Google Shape;70;p16" title="Screenshot 2025-06-25 at 6.36.5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325" y="2031750"/>
            <a:ext cx="5147231" cy="283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 title="Screenshot 2025-06-25 at 6.41.4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7152" y="2136025"/>
            <a:ext cx="3249173" cy="262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ctrTitle"/>
          </p:nvPr>
        </p:nvSpPr>
        <p:spPr>
          <a:xfrm>
            <a:off x="245725" y="247350"/>
            <a:ext cx="8520600" cy="46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GDA (Gaussian Discriminant Analysis)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To find the model, find the parameters by MLE: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          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7" name="Google Shape;77;p17" title="Screenshot 2025-06-25 at 6.27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475" y="2366375"/>
            <a:ext cx="3594574" cy="25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7" title="Screenshot 2025-06-25 at 6.45.25 PM.png"/>
          <p:cNvPicPr preferRelativeResize="0"/>
          <p:nvPr/>
        </p:nvPicPr>
        <p:blipFill rotWithShape="1">
          <a:blip r:embed="rId4">
            <a:alphaModFix/>
          </a:blip>
          <a:srcRect b="12855" l="0" r="0" t="8130"/>
          <a:stretch/>
        </p:blipFill>
        <p:spPr>
          <a:xfrm>
            <a:off x="330475" y="1170825"/>
            <a:ext cx="4451601" cy="11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 txBox="1"/>
          <p:nvPr/>
        </p:nvSpPr>
        <p:spPr>
          <a:xfrm>
            <a:off x="4666825" y="2516225"/>
            <a:ext cx="3858900" cy="22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-&gt; Fraction of y=1</a:t>
            </a:r>
            <a:endParaRPr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-&gt; Sum of the feature vectors where y=0 /</a:t>
            </a:r>
            <a:br>
              <a:rPr lang="en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    The number of examples y=0</a:t>
            </a:r>
            <a:endParaRPr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    </a:t>
            </a:r>
            <a:endParaRPr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ctrTitle"/>
          </p:nvPr>
        </p:nvSpPr>
        <p:spPr>
          <a:xfrm>
            <a:off x="245725" y="247350"/>
            <a:ext cx="8520600" cy="46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GDA (Gaussian Discriminant Analysis)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covariance:</a:t>
            </a: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 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Off-diagonal entries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: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5" name="Google Shape;85;p18" title="Screenshot 2025-06-25 at 6.13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7000" y="709625"/>
            <a:ext cx="4493901" cy="127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8" title="Screenshot 2025-06-25 at 6.16.1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075" y="2571750"/>
            <a:ext cx="4480499" cy="127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 title="Screenshot 2025-06-25 at 6.17.55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9400" y="2645937"/>
            <a:ext cx="3642751" cy="1061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 title="Screenshot 2025-06-25 at 6.18.41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08713" y="2332195"/>
            <a:ext cx="2992175" cy="48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 title="Screenshot 2025-06-25 at 6.19.06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23575" y="3849225"/>
            <a:ext cx="3618664" cy="104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 title="Screenshot 2025-06-25 at 6.19.30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88477" y="3707101"/>
            <a:ext cx="3212397" cy="39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ctrTitle"/>
          </p:nvPr>
        </p:nvSpPr>
        <p:spPr>
          <a:xfrm>
            <a:off x="245725" y="247350"/>
            <a:ext cx="8520600" cy="46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GDA (Gaussian Discriminant Analysis)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1. 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Assumption: </a:t>
            </a:r>
            <a:r>
              <a:rPr b="1" lang="en" sz="1400">
                <a:latin typeface="Georgia"/>
                <a:ea typeface="Georgia"/>
                <a:cs typeface="Georgia"/>
                <a:sym typeface="Georgia"/>
              </a:rPr>
              <a:t>p(x|y=k) is Gaussian 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(</a:t>
            </a:r>
            <a:r>
              <a:rPr i="1" lang="en" sz="1400">
                <a:latin typeface="Georgia"/>
                <a:ea typeface="Georgia"/>
                <a:cs typeface="Georgia"/>
                <a:sym typeface="Georgia"/>
              </a:rPr>
              <a:t>plot your data!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)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x|y=k ~ 𝒩(μₖ, Σ) with shared covariance Cov(X) = Σ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2. Learn Parameters: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 φ=P(y=1), μ₀, μ₁, Σ — Learn via MLE  and Plug into 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3. Prediction(Goal): 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sing Bayes' Rule, 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ompute p(y=1∣x) o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r choose argmax y p(x|y)p(y) (if 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classification)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Decision boundary: 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linear if shared Σ, quadratic otherwise           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6" name="Google Shape;96;p19" title="Screenshot 2025-06-25 at 6.36.59 PM.png"/>
          <p:cNvPicPr preferRelativeResize="0"/>
          <p:nvPr/>
        </p:nvPicPr>
        <p:blipFill rotWithShape="1">
          <a:blip r:embed="rId3">
            <a:alphaModFix/>
          </a:blip>
          <a:srcRect b="6704" l="9566" r="8251" t="51679"/>
          <a:stretch/>
        </p:blipFill>
        <p:spPr>
          <a:xfrm>
            <a:off x="4621475" y="1632575"/>
            <a:ext cx="4036051" cy="112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ctrTitle"/>
          </p:nvPr>
        </p:nvSpPr>
        <p:spPr>
          <a:xfrm>
            <a:off x="245725" y="247350"/>
            <a:ext cx="8520600" cy="46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Comparison between </a:t>
            </a: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Generative vs. Discriminative approach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102" name="Google Shape;102;p20"/>
          <p:cNvGraphicFramePr/>
          <p:nvPr/>
        </p:nvGraphicFramePr>
        <p:xfrm>
          <a:off x="560825" y="182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{45F1C36C-31CE-498F-A0F0-E463DA7F5301}</a:tableStyleId>
              </a:tblPr>
              <a:tblGrid>
                <a:gridCol w="3935150"/>
                <a:gridCol w="3955225"/>
              </a:tblGrid>
              <a:tr h="467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GDA (Gaussian Discriminant Analysis)</a:t>
                      </a:r>
                      <a:endParaRPr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Logistic Regression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b"/>
                </a:tc>
              </a:tr>
              <a:tr h="93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Strong assumption &amp; Less data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More data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b"/>
                </a:tc>
              </a:tr>
              <a:tr h="93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Computationally efficient (</a:t>
                      </a:r>
                      <a:r>
                        <a:rPr i="1" lang="en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fast!</a:t>
                      </a:r>
                      <a:r>
                        <a:rPr lang="en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)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Better performance </a:t>
                      </a:r>
                      <a:br>
                        <a:rPr lang="en">
                          <a:latin typeface="Georgia"/>
                          <a:ea typeface="Georgia"/>
                          <a:cs typeface="Georgia"/>
                          <a:sym typeface="Georgia"/>
                        </a:rPr>
                      </a:br>
                      <a:r>
                        <a:rPr lang="en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when Gaussian assumption does not hold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1" title="Screenshot 2025-06-25 at 7.29.3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0050" y="3020425"/>
            <a:ext cx="4052551" cy="89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1"/>
          <p:cNvSpPr txBox="1"/>
          <p:nvPr>
            <p:ph type="ctrTitle"/>
          </p:nvPr>
        </p:nvSpPr>
        <p:spPr>
          <a:xfrm>
            <a:off x="311700" y="246450"/>
            <a:ext cx="8520600" cy="46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Naive Bayes Classifier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1. 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Very strong A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ssumption: (Naive Bayes (NB) assumption) 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(1) 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x ∈ {0, 1}ⁿ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(2) 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xⱼ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 ’s are conditionally independent given y.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2. Learn Parameters: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ϕⱼ|y=1     =     P(xⱼ = 1 | y = 1)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ϕⱼ|y=0    =     P(xⱼ = 1 | y = 0)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 ϕᵧ              =     P(y = 1)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3. Prediction(Goal): 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Using Bayes' Rule, 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compute p(y=1∣x) or choose argmax y p(x|y)p(y) (if classification)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         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9" name="Google Shape;109;p21" title="Screenshot 2025-06-25 at 7.18.4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3775" y="191850"/>
            <a:ext cx="1332250" cy="1154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 title="Screenshot 2025-06-25 at 7.25.24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8674" y="1453675"/>
            <a:ext cx="2889949" cy="85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